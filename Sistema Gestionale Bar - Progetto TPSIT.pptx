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5FFD88-A715-4BD7-B8D9-2744CE7D54D3}">
  <a:tblStyle styleId="{5C5FFD88-A715-4BD7-B8D9-2744CE7D54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05476" y="2474714"/>
            <a:ext cx="83810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Sistema Gestionale </a:t>
            </a:r>
            <a:r>
              <a:rPr b="1" i="0" lang="en-US" sz="6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Bar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00437" y="350341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Documentazione Completa del Progetto Infradisciplinare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Informatica / TPSIT | Gruppo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7845"/>
            <a:ext cx="5238750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27845"/>
            <a:ext cx="5238750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14400" y="365179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Architettura Modulare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4147095"/>
            <a:ext cx="45529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Implementazione Java strutturata per gestire Ordini, Magazzino, Pagamenti e Personale in modo integrato e scalabile.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365179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Standard SRS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414709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Rispetto rigoroso dei Requisiti Funzionali (RF) e Non Funzionali (RNF) per garantire affidabilità e sicurezza.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90884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90884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PANORAMICA DEL SISTEMA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236785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Utilizzo Strategico di Java Collections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284410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ArrayList: Gestione dinamica e ordinata del Menu e degli Ordini.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58318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HashMap: Struttura chiave-valore ad alte prestazioni per Magazzino e Autenticazione.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322266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Ottimizzazione: Accesso rapido ai dati per massimizzare la velocità operativa in cassa.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696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60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65128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ARCHITETTURA E STRUTTURE DATI</a:t>
            </a:r>
            <a:endParaRPr/>
          </a:p>
        </p:txBody>
      </p:sp>
      <p:pic>
        <p:nvPicPr>
          <p:cNvPr id="114" name="Google Shape;114;p15" title="images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0275" y="2016875"/>
            <a:ext cx="5586875" cy="31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7845"/>
            <a:ext cx="2547937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27845"/>
            <a:ext cx="2547937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27845"/>
            <a:ext cx="2547937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527845"/>
            <a:ext cx="2547937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14400" y="3651795"/>
            <a:ext cx="19552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Menu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14400" y="4147095"/>
            <a:ext cx="186213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Lista prodotti dinamica (caffè, food, cocktail).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748087" y="3651795"/>
            <a:ext cx="19552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Stock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748087" y="4147095"/>
            <a:ext cx="186213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Monitoraggio scorte in tempo reale via Map.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81775" y="3651795"/>
            <a:ext cx="19552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Staff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81775" y="4147095"/>
            <a:ext cx="186213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Database dipendenti e gestione turni.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415462" y="3651795"/>
            <a:ext cx="19552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Orders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415462" y="4147095"/>
            <a:ext cx="18621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Archiviazione cronologica di ogni transazione.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90884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8087" y="290884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90884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5462" y="2908845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COMPONENTI CORE DELLA CLASSE BAR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52500" y="315277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Registrazione: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Salvataggio immediato dell'oggetto Order nella memoria di sistema.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361756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Sincronizzazione Inventory: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Riduzione automatica delle quantità nel magazzino per ogni item venduto.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52500" y="408235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Processo di Pagamento: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Delega al sistema PaymentSystem per la validazione della transazione.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45471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Reportistica: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Invio dei dati al ReportGenerator per analisi statistiche a fine giornata.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5637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042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521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90008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FLUSSO GESTIONE ORDINI (RF1)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887610"/>
            <a:ext cx="520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MAGAZZINO INTELLIGENTE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227213" l="63627" r="29439" t="-134146"/>
          <a:stretch/>
        </p:blipFill>
        <p:spPr>
          <a:xfrm>
            <a:off x="6096000" y="0"/>
            <a:ext cx="15811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2034683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Controllo Scorte Real-Time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765708"/>
            <a:ext cx="4953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Il sistema scansiona ogni prodotto ordinato e aggiorna il valore inventory. Se la giacenza scende sotto la soglia critica (es. 10 unità), viene generato un avviso automatico per il rifornimento.</a:t>
            </a:r>
            <a:endParaRPr/>
          </a:p>
        </p:txBody>
      </p:sp>
      <p:pic>
        <p:nvPicPr>
          <p:cNvPr id="160" name="Google Shape;160;p18" title="trasferimento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921" y="1544628"/>
            <a:ext cx="6527775" cy="39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9280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381750" y="260598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Modularià e Flessibilità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381750" y="3101280"/>
            <a:ext cx="52387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Il metodo processPayment delega la logica a una classe specializzata. Questo permette di aggiungere nuovi gateway di pagamento senza modificare il core del sistema (Principio di Singola Responsabilità).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METODI DI PAGAMENTO (RF2)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115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236785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Gestione Risorse Umane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86315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Associazione dipendente-turno per ottimizzare la copertura oraria. Il sistema registra le performance per operatore.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369748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Aggiornamento Menu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419278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Interfaccia dinamica per aggiungere/rimuovere piatti in base alla stagionalità o disponibilità degli ingredienti.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1068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OPERATIONS &amp; DASHBOARD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3153667"/>
            <a:ext cx="3467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4677667"/>
            <a:ext cx="3467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Integrità Dati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800600" y="3067050"/>
            <a:ext cx="71608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Sicurezza e Backup Automatico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181600" y="3543300"/>
            <a:ext cx="6438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Autenticazione: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Accesso controllato tramite credenziali username/password (hash-ready).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181600" y="4282380"/>
            <a:ext cx="6438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Backup: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Routine automatica attivabile per il salvataggio dello stato del sistema.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181600" y="4747170"/>
            <a:ext cx="6438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Encapsulation: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Accesso ai dati riservati solo tramite metodi getter autorizzati.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586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43252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479003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CONTINUITÀ OPERATIVA (RNF)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1295"/>
            <a:ext cx="243066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3461295"/>
            <a:ext cx="243066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3461295"/>
            <a:ext cx="2430660" cy="1863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3461295"/>
            <a:ext cx="2430660" cy="186303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571500" y="4244131"/>
            <a:ext cx="11049000" cy="1905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10758" y="3750745"/>
            <a:ext cx="21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Database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62000" y="4413795"/>
            <a:ext cx="204966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Sostituzione delle liste con SQL/PostgreSQL per persistenza dati.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653063" y="3750745"/>
            <a:ext cx="21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3634680" y="4413795"/>
            <a:ext cx="204966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Implementazione di hashing per le password (BCrypt).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456132" y="3750745"/>
            <a:ext cx="21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API REST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507360" y="4413795"/>
            <a:ext cx="2049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Integrazione Spring Boot per accesso web e mobile.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328799" y="3750745"/>
            <a:ext cx="21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UI/MVC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380041" y="4413795"/>
            <a:ext cx="2049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Sviluppo interfaccia grafica (JavaFX o React).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ROADMAP DI SVILUPPO FUTURO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1691580" y="4148956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D8FF"/>
          </a:solidFill>
          <a:ln cap="flat" cmpd="sng" w="47625">
            <a:solidFill>
              <a:srgbClr val="00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564260" y="4148956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D8FF"/>
          </a:solidFill>
          <a:ln cap="flat" cmpd="sng" w="47625">
            <a:solidFill>
              <a:srgbClr val="00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436941" y="4148956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D8FF"/>
          </a:solidFill>
          <a:ln cap="flat" cmpd="sng" w="47625">
            <a:solidFill>
              <a:srgbClr val="00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0309621" y="4148956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D8FF"/>
          </a:solidFill>
          <a:ln cap="flat" cmpd="sng" w="47625">
            <a:solidFill>
              <a:srgbClr val="00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2E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3"/>
          <p:cNvGraphicFramePr/>
          <p:nvPr/>
        </p:nvGraphicFramePr>
        <p:xfrm>
          <a:off x="571500" y="2629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{5C5FFD88-A715-4BD7-B8D9-2744CE7D54D3}</a:tableStyleId>
              </a:tblPr>
              <a:tblGrid>
                <a:gridCol w="2352225"/>
                <a:gridCol w="4241300"/>
                <a:gridCol w="4455475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D8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Responsabilità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D8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Attributi Chiave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8FF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MenuItem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Rappresentazione prodotto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Nome, Prezzo, Categoria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Employee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Gestione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Nome, Turno assegnato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Contenitore transazione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Lista prodotti, Tipo ordine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Payment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Oggetto transazione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Importo, Metodo (Cash/Card)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3"/>
          <p:cNvSpPr/>
          <p:nvPr/>
        </p:nvSpPr>
        <p:spPr>
          <a:xfrm>
            <a:off x="571500" y="3182242"/>
            <a:ext cx="2352228" cy="1905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923728" y="3182242"/>
            <a:ext cx="4241303" cy="1905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7165032" y="3182242"/>
            <a:ext cx="4455467" cy="1905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1500" y="3787080"/>
            <a:ext cx="23522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923728" y="3787080"/>
            <a:ext cx="4241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165032" y="3787080"/>
            <a:ext cx="4455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4377630"/>
            <a:ext cx="23522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923728" y="4377630"/>
            <a:ext cx="4241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165032" y="4377630"/>
            <a:ext cx="4455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71500" y="4968180"/>
            <a:ext cx="23522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2923728" y="4968180"/>
            <a:ext cx="4241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165032" y="4968180"/>
            <a:ext cx="4455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71500" y="5558730"/>
            <a:ext cx="23522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923728" y="5558730"/>
            <a:ext cx="4241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165032" y="5558730"/>
            <a:ext cx="4455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SPECIFICHE TECNICHE CLASSI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